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96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embeddedFontLst>
    <p:embeddedFont>
      <p:font typeface="Inter"/>
      <p:bold r:id="rId8"/>
    </p:embeddedFont>
    <p:embeddedFont>
      <p:font typeface="Neue Haas Grotesk Text Pro" panose="020B0504020202020204" pitchFamily="34" charset="0"/>
      <p:regular r:id="rId9"/>
    </p:embeddedFont>
    <p:embeddedFont>
      <p:font typeface="Space Grotesk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852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02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302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89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731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61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17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70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74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1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36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13286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11874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31863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04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79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509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62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911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518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073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857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729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616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9729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627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224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932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  <p:sldLayoutId id="2147483970" r:id="rId2"/>
    <p:sldLayoutId id="2147483971" r:id="rId3"/>
    <p:sldLayoutId id="2147483972" r:id="rId4"/>
    <p:sldLayoutId id="2147483973" r:id="rId5"/>
    <p:sldLayoutId id="2147483974" r:id="rId6"/>
    <p:sldLayoutId id="2147483975" r:id="rId7"/>
    <p:sldLayoutId id="2147483976" r:id="rId8"/>
    <p:sldLayoutId id="2147483977" r:id="rId9"/>
    <p:sldLayoutId id="2147483978" r:id="rId10"/>
    <p:sldLayoutId id="2147483979" r:id="rId11"/>
    <p:sldLayoutId id="2147483980" r:id="rId12"/>
    <p:sldLayoutId id="2147483981" r:id="rId13"/>
    <p:sldLayoutId id="2147483982" r:id="rId14"/>
    <p:sldLayoutId id="2147483983" r:id="rId15"/>
    <p:sldLayoutId id="2147483984" r:id="rId16"/>
    <p:sldLayoutId id="2147483985" r:id="rId17"/>
    <p:sldLayoutId id="2147483986" r:id="rId18"/>
    <p:sldLayoutId id="2147483987" r:id="rId19"/>
    <p:sldLayoutId id="2147483988" r:id="rId20"/>
    <p:sldLayoutId id="2147483989" r:id="rId21"/>
    <p:sldLayoutId id="2147483990" r:id="rId22"/>
    <p:sldLayoutId id="2147483991" r:id="rId23"/>
    <p:sldLayoutId id="2147483992" r:id="rId24"/>
    <p:sldLayoutId id="2147483993" r:id="rId25"/>
    <p:sldLayoutId id="2147483994" r:id="rId26"/>
    <p:sldLayoutId id="2147483995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57412" y="4485263"/>
            <a:ext cx="2200275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00587" y="4485263"/>
            <a:ext cx="2771775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15262" y="4485263"/>
            <a:ext cx="240030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57412" y="4485263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700587" y="4485263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815262" y="4485263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7020" y="1869054"/>
            <a:ext cx="28959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 dirty="0">
                <a:solidFill>
                  <a:schemeClr val="accent6">
                    <a:lumMod val="75000"/>
                  </a:schemeClr>
                </a:solidFill>
                <a:highlight>
                  <a:srgbClr val="C0C0C0"/>
                </a:highlight>
                <a:latin typeface="Space Grotesk"/>
              </a:rPr>
              <a:t>EXPERIMENT 7 • ADVANCED BI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6984"/>
            <a:ext cx="9301162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Executive Business Insights </a:t>
            </a:r>
            <a:endParaRPr lang="en-IN" sz="3900" b="1" i="0" u="none" dirty="0">
              <a:solidFill>
                <a:srgbClr val="F8FAFC"/>
              </a:solidFill>
              <a:latin typeface="Space Grotesk"/>
            </a:endParaRPr>
          </a:p>
          <a:p>
            <a:pPr algn="ctr">
              <a:lnSpc>
                <a:spcPts val="4484"/>
              </a:lnSpc>
            </a:pPr>
            <a:r>
              <a:rPr sz="3900" b="1" i="0" u="none" dirty="0">
                <a:solidFill>
                  <a:srgbClr val="F8FAFC"/>
                </a:solidFill>
                <a:latin typeface="Space Grotesk"/>
              </a:rPr>
              <a:t>&amp; Diagnostic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8875" y="3633918"/>
            <a:ext cx="733425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 dirty="0">
                <a:solidFill>
                  <a:srgbClr val="94A3B8"/>
                </a:solidFill>
                <a:latin typeface="Inter"/>
              </a:rPr>
              <a:t>Strategic evaluation of Global Superstore performance, diagnostic problem identification, and executive recommendations.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9337" y="4485263"/>
            <a:ext cx="254793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9337" y="4666238"/>
            <a:ext cx="25479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E2E8F0"/>
                </a:solidFill>
                <a:latin typeface="Inter"/>
              </a:rPr>
              <a:t>Microsoft Power BI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2512" y="4485263"/>
            <a:ext cx="326231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Inter"/>
              </a:rPr>
              <a:t>Source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2512" y="4666238"/>
            <a:ext cx="32623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Inter"/>
              </a:rPr>
              <a:t>Global Superstore (51,290 Records)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0524" y="4510890"/>
            <a:ext cx="279796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64748B"/>
                </a:solidFill>
                <a:latin typeface="Inter"/>
              </a:rPr>
              <a:t>Executive Focus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0524" y="4664904"/>
            <a:ext cx="2797968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E2E8F0"/>
                </a:solidFill>
                <a:latin typeface="Inter"/>
              </a:rPr>
              <a:t>Scorecards, Margins &amp;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548062"/>
            <a:ext cx="5617964" cy="177165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366962"/>
            <a:ext cx="178370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526655" y="2366962"/>
            <a:ext cx="178370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443710" y="2366962"/>
            <a:ext cx="1783705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164" y="1795462"/>
            <a:ext cx="5126235" cy="4095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65689" y="1795462"/>
            <a:ext cx="5107185" cy="490709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90575" y="3729037"/>
          <a:ext cx="5256011" cy="1409700"/>
        </p:xfrm>
        <a:graphic>
          <a:graphicData uri="http://schemas.openxmlformats.org/drawingml/2006/table">
            <a:tbl>
              <a:tblPr/>
              <a:tblGrid>
                <a:gridCol w="5984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7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75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5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Actual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Achievement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475569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$12,642,501.91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$13,000,000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97.25%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▲ Partially Achieved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Profit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$1,467,457.29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$1,500,000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97.83%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D97706"/>
                          </a:solidFill>
                          <a:latin typeface="Inter"/>
                        </a:rPr>
                        <a:t>▲ Partially Achieved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334155"/>
                          </a:solidFill>
                          <a:latin typeface="Inter"/>
                        </a:rPr>
                        <a:t>25,728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 i="0" u="none">
                          <a:solidFill>
                            <a:srgbClr val="64748B"/>
                          </a:solidFill>
                          <a:latin typeface="Inter"/>
                        </a:rPr>
                        <a:t>25,000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102.91%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F172A"/>
                          </a:solidFill>
                          <a:latin typeface="Inter"/>
                        </a:rPr>
                        <a:t>● Achieved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PERFORMANCE SCORECARD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Executive Dashboard Overview &amp; Target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525" y="252888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TOTAL 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2719387"/>
            <a:ext cx="182481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$12.64M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525" y="308133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97.25% of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8580" y="252888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TOTAL PROFIT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580" y="2719387"/>
            <a:ext cx="182481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284C7"/>
                </a:solidFill>
                <a:latin typeface="Space Grotesk"/>
              </a:rPr>
              <a:t>$1.47M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580" y="308133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D97706"/>
                </a:solidFill>
                <a:latin typeface="Inter"/>
              </a:rPr>
              <a:t>97.83% of Target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635" y="252888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Inter"/>
              </a:rPr>
              <a:t>TOTAL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5635" y="2719387"/>
            <a:ext cx="182481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25,728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5635" y="3081337"/>
            <a:ext cx="18248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Inter"/>
              </a:rPr>
              <a:t>102.91% Achieved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714875"/>
            <a:ext cx="5372100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0300" y="4714875"/>
            <a:ext cx="5372100" cy="7524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714875"/>
            <a:ext cx="38100" cy="7524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0300" y="4714875"/>
            <a:ext cx="38100" cy="75247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19325"/>
            <a:ext cx="5372100" cy="2381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219325"/>
            <a:ext cx="5372100" cy="2381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5325" y="2181225"/>
            <a:ext cx="5200650" cy="2533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6025" y="2317465"/>
            <a:ext cx="5200650" cy="21849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DIAGNOSTIC OBSERVATIONS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Regional Concentrations &amp; Multi-Year Trajectory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829175"/>
            <a:ext cx="66008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Western Europe &amp; Americas Lead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5048250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Western Europe ($1.73M), Central America ($1.22M), and Oceania drive core revenues; secondary markets generate &lt;1.5% each.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29175"/>
            <a:ext cx="57912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Inter"/>
              </a:rPr>
              <a:t>24.1% Compound Annual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048250"/>
            <a:ext cx="5124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Inter"/>
              </a:rPr>
              <a:t>Revenues escalated from $2.25M (2014) to $4.30M+ (2017), supported by strong recurring order volume from enterprise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48991"/>
            <a:ext cx="5372100" cy="2388691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48991"/>
            <a:ext cx="5372100" cy="2388691"/>
          </a:xfrm>
          <a:prstGeom prst="roundRect">
            <a:avLst>
              <a:gd name="adj" fmla="val 398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5028158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648991"/>
            <a:ext cx="53721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72175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10300" y="5028158"/>
            <a:ext cx="53721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0300" y="2648991"/>
            <a:ext cx="5372100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0300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572875" y="2648991"/>
            <a:ext cx="9525" cy="238869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" y="2963316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475" y="2963316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EVIDENCE-BASED SWOT DIAGNOSTIC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Organizational Strengths vs. Operational Weaknesses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525" y="2934741"/>
            <a:ext cx="241280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Validated Strengths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6775" y="3353841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Technology Margin Dominance: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Technology yields $4.7M+ sales and $663K profit at an industry-leading 14.1% margin.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775" y="3873847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High Core Geographic Density: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Western Europe, Central America, and Oceania account for over 32% of total turnover.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4393852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Exceeded Order Targets: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25,728 transactions secured 102.91% of target quota with reliable B2B re-ordering.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53225" y="2934741"/>
            <a:ext cx="241280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Critical Weaknesses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3353841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Severe Furniture Profit Drag: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Furniture produces $4.1M+ sales but only ~$285K profit (~7% margin) due to deep discounting.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7475" y="3873847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Peripheral Distribution Drag: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Canada, Central Asia, and East Africa yield &lt;1.5% each, suffering high shipping friction.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7475" y="4393852"/>
            <a:ext cx="49530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0F172A"/>
                </a:solidFill>
                <a:latin typeface="Inter"/>
              </a:rPr>
              <a:t>Revenue &amp; Profit Shortfall:</a:t>
            </a:r>
            <a:r>
              <a:rPr sz="1050" b="0" i="0" u="none">
                <a:solidFill>
                  <a:srgbClr val="334155"/>
                </a:solidFill>
                <a:latin typeface="Inter"/>
              </a:rPr>
              <a:t> Missed targets by ~2.7% ($12.64M vs $13M) due to unrestrained promotional leakage.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69989"/>
            <a:ext cx="3530649" cy="2146696"/>
          </a:xfrm>
          <a:prstGeom prst="roundRect">
            <a:avLst>
              <a:gd name="adj" fmla="val 44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2769989"/>
            <a:ext cx="3530649" cy="2146696"/>
          </a:xfrm>
          <a:prstGeom prst="roundRect">
            <a:avLst>
              <a:gd name="adj" fmla="val 44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769989"/>
            <a:ext cx="3530649" cy="2146696"/>
          </a:xfrm>
          <a:prstGeom prst="roundRect">
            <a:avLst>
              <a:gd name="adj" fmla="val 44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4002285"/>
            <a:ext cx="3054399" cy="676275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68874" y="4002285"/>
            <a:ext cx="3054399" cy="676275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0024" y="4002285"/>
            <a:ext cx="3054399" cy="676275"/>
          </a:xfrm>
          <a:prstGeom prst="roundRect">
            <a:avLst>
              <a:gd name="adj" fmla="val 845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19100"/>
            <a:ext cx="115824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EXECUTIVE 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381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Strategic Recommendations &amp; 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008114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RECOMMENDATION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227189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Discount Capping on Bulky Goods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522464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Enforce automated 10% maximum discount ceilings on Tables, Chairs, and Bookcases.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3008114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RECOMMENDATION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227189"/>
            <a:ext cx="400889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Enterprise Workstation Bundles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522464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Bundle high-margin Tech accessories with Home Office ergonomic seating for remote B2B accounts.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024" y="3008114"/>
            <a:ext cx="381799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Inter"/>
              </a:rPr>
              <a:t>RECOMMENDATION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227189"/>
            <a:ext cx="39019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Inter"/>
              </a:rPr>
              <a:t>Logistics Consolidation in 3PLs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522464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Shift distribution in peripheral markets (Canada, Central Asia) to localized third-party partners.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4107060"/>
            <a:ext cx="3556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Expected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500" y="4268985"/>
            <a:ext cx="29400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Recaptures ~$65K+ lost margin; lifts Furniture profit to ~10.5%.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3649" y="4107060"/>
            <a:ext cx="3556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Expected Benefit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3649" y="4268985"/>
            <a:ext cx="29400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Expands segment revenue by 15–20% at superior 11.9% margin.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799" y="4107060"/>
            <a:ext cx="3556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Inter"/>
              </a:rPr>
              <a:t>Expected Benefit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799" y="4268985"/>
            <a:ext cx="294009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Inter"/>
              </a:rPr>
              <a:t>Decreases cross-border freight overhead by 12–18%.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28750" y="4208115"/>
            <a:ext cx="2959149" cy="1076325"/>
          </a:xfrm>
          <a:prstGeom prst="roundRect">
            <a:avLst>
              <a:gd name="adj" fmla="val 88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616499" y="4208115"/>
            <a:ext cx="2959149" cy="1076325"/>
          </a:xfrm>
          <a:prstGeom prst="roundRect">
            <a:avLst>
              <a:gd name="adj" fmla="val 88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804249" y="4208115"/>
            <a:ext cx="2959149" cy="1076325"/>
          </a:xfrm>
          <a:prstGeom prst="roundRect">
            <a:avLst>
              <a:gd name="adj" fmla="val 88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70859" y="1573559"/>
            <a:ext cx="2250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Space Grotesk"/>
              </a:rPr>
              <a:t>EXECUTIVE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328" y="1859309"/>
            <a:ext cx="10751343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300" b="1" i="0" u="none">
                <a:solidFill>
                  <a:srgbClr val="F8FAFC"/>
                </a:solidFill>
                <a:latin typeface="Space Grotesk"/>
              </a:rPr>
              <a:t>Driving Strategic Growth Through BI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625" y="3055590"/>
            <a:ext cx="90487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Inter"/>
              </a:rPr>
              <a:t>Integrating diagnostic Power BI analytics converts transactional data into actionable management control. Enforcing discount discipline and scaling high-margin verticals ensures target achievement and sustainable enterprise profitability.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8775" y="4408140"/>
            <a:ext cx="31988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30-DAY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8775" y="4598640"/>
            <a:ext cx="26543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Implement Power BI DAX alert rules for transactions exceeding 10% discount on heavy items.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6524" y="4408140"/>
            <a:ext cx="31988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60-DAY 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6524" y="4598640"/>
            <a:ext cx="26543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Roll out enterprise B2B Home Office product bundles with volume-based pricing tiers.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4274" y="4408140"/>
            <a:ext cx="3198874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Inter"/>
              </a:rPr>
              <a:t>90-DAY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4274" y="4598640"/>
            <a:ext cx="265434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Inter"/>
              </a:rPr>
              <a:t>Transition peripheral distribution to regional 3PL partners to optimize unit economics.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7</TotalTime>
  <Words>514</Words>
  <Application>Microsoft Office PowerPoint</Application>
  <PresentationFormat>Widescreen</PresentationFormat>
  <Paragraphs>83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Space Grotesk</vt:lpstr>
      <vt:lpstr>Inter</vt:lpstr>
      <vt:lpstr>Neue Haas Grotesk Text Pro</vt:lpstr>
      <vt:lpstr>Arial</vt:lpstr>
      <vt:lpstr>Helena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Jass k</cp:lastModifiedBy>
  <cp:revision>3</cp:revision>
  <dcterms:created xsi:type="dcterms:W3CDTF">2013-01-27T09:14:16Z</dcterms:created>
  <dcterms:modified xsi:type="dcterms:W3CDTF">2026-10-30T06:36:58Z</dcterms:modified>
  <cp:category/>
</cp:coreProperties>
</file>